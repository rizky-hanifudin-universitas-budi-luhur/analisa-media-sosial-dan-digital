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67" r:id="rId3"/>
    <p:sldId id="268" r:id="rId4"/>
    <p:sldId id="270" r:id="rId5"/>
    <p:sldId id="272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5" r:id="rId14"/>
    <p:sldId id="266" r:id="rId15"/>
    <p:sldId id="273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659" autoAdjust="0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96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7074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79EEC-C31B-7F82-0F73-19BF0D13B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3836AE-9FB9-32B0-EDAB-71BD97E86A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5C9516-43EB-D25F-C9AF-679EE03120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13B3A-169E-25AA-F347-A449FDAB94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1280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78D76-DC05-7A60-F929-377B90FB4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B32E34-D0F0-1AA6-69FF-6115AC7461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DC2C1C-D333-45B7-2D2A-FF2CB8FB6C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F2115-A5E3-DCEA-DC18-B7A9FE29D1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0898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4A7CE-9AAF-6E7C-FC12-4DE5F6797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3857A9-7773-17CF-6F53-C6EC344F4A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C4D84D-A473-551B-91E9-3301249525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1C797-3AD5-336F-CF6A-5986859EC2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246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E1B73-F432-734C-5B72-74197AFC3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1499A2-1A2E-4E7C-32AC-FC373E262F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FAEF83-8DD8-75C1-FA1B-FEA060CE62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1712F7-D3FE-C6E7-FC20-DB093F5B07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6197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DD461-8B1B-713D-AFE2-C913787CE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8BE5DB-8F64-416A-2D98-92128F0AC1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A18F0D-D367-B5B6-AE27-A54BE6A916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B5DA80-DB77-B72F-7929-ACCBA162AE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1944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95507-E77D-44B9-72D7-EA25BD4AA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5A582D-A834-AE15-1A32-04D7AF8C6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315AEC-B56A-5559-2F1F-316D40B126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A13197-117F-048E-21AB-7538004E68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5593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6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3200400" cy="3200400"/>
          </a:xfrm>
          <a:prstGeom prst="ellipse">
            <a:avLst/>
          </a:prstGeom>
          <a:solidFill>
            <a:srgbClr val="2E86DE">
              <a:alpha val="40000"/>
            </a:srgbClr>
          </a:solidFill>
          <a:ln w="12700">
            <a:solidFill>
              <a:srgbClr val="2E86DE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1828800" cy="1828800"/>
          </a:xfrm>
          <a:prstGeom prst="ellipse">
            <a:avLst/>
          </a:prstGeom>
          <a:solidFill>
            <a:srgbClr val="2E86DE">
              <a:alpha val="25000"/>
            </a:srgbClr>
          </a:solidFill>
          <a:ln w="12700">
            <a:solidFill>
              <a:srgbClr val="2E86DE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90C4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PENELITIAN | ANALISIS SENTIMEN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Program Makan</a:t>
            </a:r>
            <a:endParaRPr lang="en-US" sz="4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Bergizi Gratis</a:t>
            </a:r>
            <a:endParaRPr lang="en-US" sz="4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B3D4F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Analisis Sentimen Publik di Platform X (Twitter)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B3D4F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Berdasarkan 477 Tweet | 2023–2026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346A0"/>
          </a:solidFill>
          <a:ln w="12700">
            <a:solidFill>
              <a:srgbClr val="134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18888"/>
            <a:ext cx="8686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C4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Sumber Data: Platform X  |  Keyword: program makan bergizi gratis  |  Bahasa: Indonesia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7DE1492-6192-230D-97D5-2E787952ED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0350" y="239194"/>
            <a:ext cx="1350770" cy="133814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7B6CA-1CC1-0239-4645-F5616738E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5065EA3-4D14-F54D-B66B-5615BC5120B1}"/>
              </a:ext>
            </a:extLst>
          </p:cNvPr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E2A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Anggota</a:t>
            </a:r>
            <a:r>
              <a:rPr lang="en-US" sz="2800" b="1" dirty="0">
                <a:solidFill>
                  <a:srgbClr val="1E2A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1E2A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Kelompok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457D075-0D77-8D99-F33B-939CF65BACE5}"/>
              </a:ext>
            </a:extLst>
          </p:cNvPr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D1E3F5"/>
          </a:solidFill>
          <a:ln w="12700">
            <a:solidFill>
              <a:srgbClr val="D1E3F5"/>
            </a:solidFill>
            <a:prstDash val="solid"/>
          </a:ln>
        </p:spPr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7A17EAA-8738-5429-6D06-C14974177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170" y="237353"/>
            <a:ext cx="555674" cy="550481"/>
          </a:xfrm>
          <a:prstGeom prst="rect">
            <a:avLst/>
          </a:prstGeom>
        </p:spPr>
      </p:pic>
      <p:sp>
        <p:nvSpPr>
          <p:cNvPr id="25" name="Text 1">
            <a:extLst>
              <a:ext uri="{FF2B5EF4-FFF2-40B4-BE49-F238E27FC236}">
                <a16:creationId xmlns:a16="http://schemas.microsoft.com/office/drawing/2014/main" id="{C85DCEE4-7AA2-FDCC-E104-E67840B9F175}"/>
              </a:ext>
            </a:extLst>
          </p:cNvPr>
          <p:cNvSpPr/>
          <p:nvPr/>
        </p:nvSpPr>
        <p:spPr>
          <a:xfrm>
            <a:off x="3633788" y="4400973"/>
            <a:ext cx="18764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6"/>
              </a:lnSpc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0">
            <a:extLst>
              <a:ext uri="{FF2B5EF4-FFF2-40B4-BE49-F238E27FC236}">
                <a16:creationId xmlns:a16="http://schemas.microsoft.com/office/drawing/2014/main" id="{48528F12-92B2-AD9E-988E-AFACAB572FC5}"/>
              </a:ext>
            </a:extLst>
          </p:cNvPr>
          <p:cNvSpPr/>
          <p:nvPr/>
        </p:nvSpPr>
        <p:spPr>
          <a:xfrm>
            <a:off x="457200" y="4126653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A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Dua Mahasigma </a:t>
            </a:r>
            <a:r>
              <a:rPr lang="en-US" sz="2000" b="1" dirty="0" err="1">
                <a:solidFill>
                  <a:srgbClr val="1E2A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Berbahaya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20B1605-DC94-D763-BFBA-2BCC9801F492}"/>
              </a:ext>
            </a:extLst>
          </p:cNvPr>
          <p:cNvGrpSpPr/>
          <p:nvPr/>
        </p:nvGrpSpPr>
        <p:grpSpPr>
          <a:xfrm>
            <a:off x="2559844" y="1453896"/>
            <a:ext cx="4024312" cy="2595563"/>
            <a:chOff x="2599308" y="1875476"/>
            <a:chExt cx="4024312" cy="2595563"/>
          </a:xfrm>
        </p:grpSpPr>
        <p:pic>
          <p:nvPicPr>
            <p:cNvPr id="29" name="Image 4" descr="preencoded.png">
              <a:extLst>
                <a:ext uri="{FF2B5EF4-FFF2-40B4-BE49-F238E27FC236}">
                  <a16:creationId xmlns:a16="http://schemas.microsoft.com/office/drawing/2014/main" id="{E18CDA28-376F-8DCC-11B6-935B9AEEE40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0000"/>
            <a:stretch>
              <a:fillRect/>
            </a:stretch>
          </p:blipFill>
          <p:spPr>
            <a:xfrm>
              <a:off x="2599308" y="1875476"/>
              <a:ext cx="3476625" cy="2595563"/>
            </a:xfrm>
            <a:prstGeom prst="rect">
              <a:avLst/>
            </a:prstGeom>
          </p:spPr>
        </p:pic>
        <p:pic>
          <p:nvPicPr>
            <p:cNvPr id="30" name="Image 4" descr="preencoded.png">
              <a:extLst>
                <a:ext uri="{FF2B5EF4-FFF2-40B4-BE49-F238E27FC236}">
                  <a16:creationId xmlns:a16="http://schemas.microsoft.com/office/drawing/2014/main" id="{35131E64-B712-7175-80F7-CD7A379B5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50000"/>
            <a:stretch>
              <a:fillRect/>
            </a:stretch>
          </p:blipFill>
          <p:spPr>
            <a:xfrm>
              <a:off x="3146995" y="1875476"/>
              <a:ext cx="3476625" cy="25955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82380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0FCF97-6DA0-5FE7-E913-A87D3CFB7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80F85EF-D92E-C665-D714-3CEB2D6901EF}"/>
              </a:ext>
            </a:extLst>
          </p:cNvPr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E2A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Penelitian</a:t>
            </a:r>
            <a:r>
              <a:rPr lang="en-US" sz="2800" b="1" dirty="0">
                <a:solidFill>
                  <a:srgbClr val="1E2A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1E2A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Terkait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E8DF570-D961-0AAD-C0EB-C8EC4561D9E1}"/>
              </a:ext>
            </a:extLst>
          </p:cNvPr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D1E3F5"/>
          </a:solidFill>
          <a:ln w="12700">
            <a:solidFill>
              <a:srgbClr val="D1E3F5"/>
            </a:solidFill>
            <a:prstDash val="solid"/>
          </a:ln>
        </p:spPr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C578382-7B36-198A-40E8-2C174E600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170" y="237353"/>
            <a:ext cx="555674" cy="550481"/>
          </a:xfrm>
          <a:prstGeom prst="rect">
            <a:avLst/>
          </a:prstGeom>
        </p:spPr>
      </p:pic>
      <p:sp>
        <p:nvSpPr>
          <p:cNvPr id="25" name="Text 1">
            <a:extLst>
              <a:ext uri="{FF2B5EF4-FFF2-40B4-BE49-F238E27FC236}">
                <a16:creationId xmlns:a16="http://schemas.microsoft.com/office/drawing/2014/main" id="{F012A02A-80A2-1BBA-7A54-3BC014C91F22}"/>
              </a:ext>
            </a:extLst>
          </p:cNvPr>
          <p:cNvSpPr/>
          <p:nvPr/>
        </p:nvSpPr>
        <p:spPr>
          <a:xfrm>
            <a:off x="3633788" y="4400973"/>
            <a:ext cx="18764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6"/>
              </a:lnSpc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C89B638-0C40-2E91-2CB3-8029AD598B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958771"/>
              </p:ext>
            </p:extLst>
          </p:nvPr>
        </p:nvGraphicFramePr>
        <p:xfrm>
          <a:off x="457200" y="1197906"/>
          <a:ext cx="8240861" cy="31770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8058">
                  <a:extLst>
                    <a:ext uri="{9D8B030D-6E8A-4147-A177-3AD203B41FA5}">
                      <a16:colId xmlns:a16="http://schemas.microsoft.com/office/drawing/2014/main" val="112005764"/>
                    </a:ext>
                  </a:extLst>
                </a:gridCol>
                <a:gridCol w="1117507">
                  <a:extLst>
                    <a:ext uri="{9D8B030D-6E8A-4147-A177-3AD203B41FA5}">
                      <a16:colId xmlns:a16="http://schemas.microsoft.com/office/drawing/2014/main" val="3352008517"/>
                    </a:ext>
                  </a:extLst>
                </a:gridCol>
                <a:gridCol w="1027010">
                  <a:extLst>
                    <a:ext uri="{9D8B030D-6E8A-4147-A177-3AD203B41FA5}">
                      <a16:colId xmlns:a16="http://schemas.microsoft.com/office/drawing/2014/main" val="1278913621"/>
                    </a:ext>
                  </a:extLst>
                </a:gridCol>
                <a:gridCol w="1599074">
                  <a:extLst>
                    <a:ext uri="{9D8B030D-6E8A-4147-A177-3AD203B41FA5}">
                      <a16:colId xmlns:a16="http://schemas.microsoft.com/office/drawing/2014/main" val="179141190"/>
                    </a:ext>
                  </a:extLst>
                </a:gridCol>
                <a:gridCol w="2351315">
                  <a:extLst>
                    <a:ext uri="{9D8B030D-6E8A-4147-A177-3AD203B41FA5}">
                      <a16:colId xmlns:a16="http://schemas.microsoft.com/office/drawing/2014/main" val="2115928289"/>
                    </a:ext>
                  </a:extLst>
                </a:gridCol>
                <a:gridCol w="1927897">
                  <a:extLst>
                    <a:ext uri="{9D8B030D-6E8A-4147-A177-3AD203B41FA5}">
                      <a16:colId xmlns:a16="http://schemas.microsoft.com/office/drawing/2014/main" val="1737039855"/>
                    </a:ext>
                  </a:extLst>
                </a:gridCol>
              </a:tblGrid>
              <a:tr h="680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en-ID" sz="8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Peneliti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Tahun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Judul Penelitian)</a:t>
                      </a:r>
                      <a:endParaRPr lang="en-ID" sz="8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Fokus Penelitian</a:t>
                      </a:r>
                      <a:endParaRPr lang="en-ID" sz="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Metode</a:t>
                      </a:r>
                      <a:endParaRPr lang="en-ID" sz="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Hasil Utama</a:t>
                      </a:r>
                      <a:endParaRPr lang="en-ID" sz="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Analisis Gap</a:t>
                      </a:r>
                      <a:endParaRPr lang="en-ID" sz="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extLst>
                  <a:ext uri="{0D108BD9-81ED-4DB2-BD59-A6C34878D82A}">
                    <a16:rowId xmlns:a16="http://schemas.microsoft.com/office/drawing/2014/main" val="143610940"/>
                  </a:ext>
                </a:extLst>
              </a:tr>
              <a:tr h="3471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D" sz="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(Putriyekti et al., 2025) Analisis Multidimensional Sentimen Masyarakat terhadap Program Makan Bergizi Gratis pada Media Sosial X </a:t>
                      </a:r>
                      <a:endParaRPr lang="en-ID" sz="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Pemanfaatan perangkat lunak KNIME untuk pemrosesan, visualisasi, dan interpretasi sentimen di media sosial X. </a:t>
                      </a:r>
                      <a:endParaRPr lang="en-ID" sz="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Workflow-based software KNIME (cleansing, visualisasi pie chart, dan word cloud). </a:t>
                      </a:r>
                      <a:endParaRPr lang="en-ID" sz="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KNIME mampu mengklasifikasikan sentimen secara sistematis dan memberikan pemahaman mendalam tanpa pemrograman kompleks. </a:t>
                      </a:r>
                      <a:endParaRPr lang="en-ID" sz="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Studi ini lebih berfokus pada penggunaan tools (KNIME) daripada perbandingan performansi antar algoritma machine learning yang spesifik. </a:t>
                      </a:r>
                      <a:endParaRPr lang="en-ID" sz="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extLst>
                  <a:ext uri="{0D108BD9-81ED-4DB2-BD59-A6C34878D82A}">
                    <a16:rowId xmlns:a16="http://schemas.microsoft.com/office/drawing/2014/main" val="203269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ID" sz="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(Munir &amp; Voutama, 2025) Analisis Sentimen Cuitan di Media Sosial X tentang Program Makan Bergizi Gratis dengan Metode NLP </a:t>
                      </a:r>
                      <a:endParaRPr lang="en-ID" sz="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Analisis sentimen publik di X menggunakan pendekatan Natural Language Processing (NLP). </a:t>
                      </a:r>
                      <a:endParaRPr lang="en-ID" sz="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Crawling (tweet-harvest), K-Means (klasterisasi), SVM dan BERT (klasifikasi). </a:t>
                      </a:r>
                      <a:endParaRPr lang="en-ID" sz="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Clustering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membantu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pengelompokan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data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awal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sebelum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diklasifikasi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oleh model SVM dan BERT. </a:t>
                      </a:r>
                      <a:endParaRPr lang="en-ID" sz="8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Fokus pada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penggabungan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metode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clustering (K-Means) dan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klasifikasi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namun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memerlukan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dataset yang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lebih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besar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untuk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akurasi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BERT yang optimal. </a:t>
                      </a:r>
                      <a:endParaRPr lang="en-ID" sz="8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extLst>
                  <a:ext uri="{0D108BD9-81ED-4DB2-BD59-A6C34878D82A}">
                    <a16:rowId xmlns:a16="http://schemas.microsoft.com/office/drawing/2014/main" val="2435043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ID" sz="8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Fatkhurrohman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et al., 2025)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Analisis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Sentimen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Program Makan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Bergizi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Gratis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Pemerintah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RI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Melalui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Twitter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Menggunakan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Metode SVM </a:t>
                      </a:r>
                      <a:endParaRPr lang="en-ID" sz="8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Evaluasi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opini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publik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di Twitter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untuk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memberikan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gambaran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yang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terstruktur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dan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terukur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bagi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pemerintah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</a:t>
                      </a:r>
                      <a:endParaRPr lang="en-ID" sz="8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Crawling, preprocessing, TF-IDF, dan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algoritma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Support Vector Machine (SVM). </a:t>
                      </a:r>
                      <a:endParaRPr lang="en-ID" sz="8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Akurasi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mencapai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80%.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Sentimen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positif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sangat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dominan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(recall 0,98),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namun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kelas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netral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dan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negatif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masih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lemah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</a:t>
                      </a:r>
                      <a:endParaRPr lang="en-ID" sz="8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Adanya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ketidakseimbangan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data (data imbalance) yang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menyebabkan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performa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model pada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kategori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negatif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dan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netral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sangat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rendah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</a:t>
                      </a:r>
                      <a:endParaRPr lang="en-ID" sz="8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extLst>
                  <a:ext uri="{0D108BD9-81ED-4DB2-BD59-A6C34878D82A}">
                    <a16:rowId xmlns:a16="http://schemas.microsoft.com/office/drawing/2014/main" val="2813335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3256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11713-A86A-89D9-194A-7C906B779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B78707B-DE93-8915-A835-389DB0537376}"/>
              </a:ext>
            </a:extLst>
          </p:cNvPr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E2A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Penelitian</a:t>
            </a:r>
            <a:r>
              <a:rPr lang="en-US" sz="2800" b="1" dirty="0">
                <a:solidFill>
                  <a:srgbClr val="1E2A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1E2A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Terkait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A5E1F59-3798-9FD2-B121-7F60DCA1199E}"/>
              </a:ext>
            </a:extLst>
          </p:cNvPr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D1E3F5"/>
          </a:solidFill>
          <a:ln w="12700">
            <a:solidFill>
              <a:srgbClr val="D1E3F5"/>
            </a:solidFill>
            <a:prstDash val="solid"/>
          </a:ln>
        </p:spPr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E2D514F-4EFC-595C-488E-BD0852EF7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170" y="237353"/>
            <a:ext cx="555674" cy="550481"/>
          </a:xfrm>
          <a:prstGeom prst="rect">
            <a:avLst/>
          </a:prstGeom>
        </p:spPr>
      </p:pic>
      <p:sp>
        <p:nvSpPr>
          <p:cNvPr id="25" name="Text 1">
            <a:extLst>
              <a:ext uri="{FF2B5EF4-FFF2-40B4-BE49-F238E27FC236}">
                <a16:creationId xmlns:a16="http://schemas.microsoft.com/office/drawing/2014/main" id="{C7D7324F-EB30-59F0-E4AE-B0459F20BECA}"/>
              </a:ext>
            </a:extLst>
          </p:cNvPr>
          <p:cNvSpPr/>
          <p:nvPr/>
        </p:nvSpPr>
        <p:spPr>
          <a:xfrm>
            <a:off x="3633788" y="4400973"/>
            <a:ext cx="18764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6"/>
              </a:lnSpc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7393E3B-2DD9-938A-856A-4734711A2B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433380"/>
              </p:ext>
            </p:extLst>
          </p:nvPr>
        </p:nvGraphicFramePr>
        <p:xfrm>
          <a:off x="457200" y="1197906"/>
          <a:ext cx="8240861" cy="31770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8058">
                  <a:extLst>
                    <a:ext uri="{9D8B030D-6E8A-4147-A177-3AD203B41FA5}">
                      <a16:colId xmlns:a16="http://schemas.microsoft.com/office/drawing/2014/main" val="112005764"/>
                    </a:ext>
                  </a:extLst>
                </a:gridCol>
                <a:gridCol w="1117507">
                  <a:extLst>
                    <a:ext uri="{9D8B030D-6E8A-4147-A177-3AD203B41FA5}">
                      <a16:colId xmlns:a16="http://schemas.microsoft.com/office/drawing/2014/main" val="3352008517"/>
                    </a:ext>
                  </a:extLst>
                </a:gridCol>
                <a:gridCol w="1238719">
                  <a:extLst>
                    <a:ext uri="{9D8B030D-6E8A-4147-A177-3AD203B41FA5}">
                      <a16:colId xmlns:a16="http://schemas.microsoft.com/office/drawing/2014/main" val="1278913621"/>
                    </a:ext>
                  </a:extLst>
                </a:gridCol>
                <a:gridCol w="1387365">
                  <a:extLst>
                    <a:ext uri="{9D8B030D-6E8A-4147-A177-3AD203B41FA5}">
                      <a16:colId xmlns:a16="http://schemas.microsoft.com/office/drawing/2014/main" val="179141190"/>
                    </a:ext>
                  </a:extLst>
                </a:gridCol>
                <a:gridCol w="2351315">
                  <a:extLst>
                    <a:ext uri="{9D8B030D-6E8A-4147-A177-3AD203B41FA5}">
                      <a16:colId xmlns:a16="http://schemas.microsoft.com/office/drawing/2014/main" val="2115928289"/>
                    </a:ext>
                  </a:extLst>
                </a:gridCol>
                <a:gridCol w="1927897">
                  <a:extLst>
                    <a:ext uri="{9D8B030D-6E8A-4147-A177-3AD203B41FA5}">
                      <a16:colId xmlns:a16="http://schemas.microsoft.com/office/drawing/2014/main" val="1737039855"/>
                    </a:ext>
                  </a:extLst>
                </a:gridCol>
              </a:tblGrid>
              <a:tr h="680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en-ID" sz="8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(Peneliti, Tahun, Judul Penelitian)</a:t>
                      </a:r>
                      <a:endParaRPr lang="en-ID" sz="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Fokus Penelitian</a:t>
                      </a:r>
                      <a:endParaRPr lang="en-ID" sz="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Metode</a:t>
                      </a:r>
                      <a:endParaRPr lang="en-ID" sz="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Hasil Utama</a:t>
                      </a:r>
                      <a:endParaRPr lang="en-ID" sz="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Analisis Gap</a:t>
                      </a:r>
                      <a:endParaRPr lang="en-ID" sz="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extLst>
                  <a:ext uri="{0D108BD9-81ED-4DB2-BD59-A6C34878D82A}">
                    <a16:rowId xmlns:a16="http://schemas.microsoft.com/office/drawing/2014/main" val="143610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ID" sz="8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(Wardianto et al., 2025) Analisis Sentimen Public Program Makan Bergizi Gratis Platform Instagram dengan Algoritma Support Vector Machine </a:t>
                      </a:r>
                      <a:endParaRPr lang="en-ID" sz="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Analisis sentimen publik terhadap program tersebut khusus pada platform Instagram. </a:t>
                      </a:r>
                      <a:endParaRPr lang="en-ID" sz="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Algoritma Support Vector Machine (SVM). </a:t>
                      </a:r>
                      <a:endParaRPr lang="en-ID" sz="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Akurasi klasifikasi sebesar 0,90. Mayoritas reaksi publik di Instagram terhadap program ini adalah netral. </a:t>
                      </a:r>
                      <a:endParaRPr lang="en-ID" sz="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Penelitian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terbatas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pada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satu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platform (Instagram) yang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karakteristik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bahasanya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berbeda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dengan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platform X. </a:t>
                      </a:r>
                      <a:endParaRPr lang="en-ID" sz="8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extLst>
                  <a:ext uri="{0D108BD9-81ED-4DB2-BD59-A6C34878D82A}">
                    <a16:rowId xmlns:a16="http://schemas.microsoft.com/office/drawing/2014/main" val="2435043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ID" sz="8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(Ainur et al., 2025) Analisis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Sentimen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Publik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Terhadap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Program Makan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Bergizi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Gratis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Menggunakan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Metode Random Forest Pada Platform X </a:t>
                      </a:r>
                      <a:endParaRPr lang="en-ID" sz="8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Analisis opini publik secara real-time dan pengembangan aplikasi klasifikasi berbasis Streamlit. </a:t>
                      </a:r>
                      <a:endParaRPr lang="en-ID" sz="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Algoritma Random Forest dengan pendekatan TF-IDF. </a:t>
                      </a:r>
                      <a:endParaRPr lang="en-ID" sz="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Akurasi keseluruhan 82% dengan F1-score 90%. Model sangat kuat dalam mendeteksi sentimen positif. </a:t>
                      </a:r>
                      <a:endParaRPr lang="en-ID" sz="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Masih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diperlukan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perbaikan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pada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aspek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ketidakseimbangan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kelas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dan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pemahaman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konteks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kalimat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yang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lebih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kompleks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</a:t>
                      </a:r>
                      <a:endParaRPr lang="en-ID" sz="8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extLst>
                  <a:ext uri="{0D108BD9-81ED-4DB2-BD59-A6C34878D82A}">
                    <a16:rowId xmlns:a16="http://schemas.microsoft.com/office/drawing/2014/main" val="3988676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ID" sz="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(Rohman &amp; Agung, 2025) Komparasi Algoritma IndoBERT, SVM, dan Random Forest dalam Analisis Sentimen Program Makan Bergizi Gratis </a:t>
                      </a:r>
                      <a:endParaRPr lang="en-ID" sz="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Membandingkan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kinerja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beberapa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model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untuk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menemukan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algoritma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yang paling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efektif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dalam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menangani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bahasa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Indonesia yang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kompleks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</a:t>
                      </a:r>
                      <a:endParaRPr lang="en-ID" sz="8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Komparasi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algoritma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IndoBERT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SVM, dan Random Forest. </a:t>
                      </a:r>
                      <a:endParaRPr lang="en-ID" sz="8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IndoBERT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superior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dengan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akurasi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87,60%,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jauh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mengungguli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SVM (83,39%) dan Random Forest (70,28%). </a:t>
                      </a:r>
                      <a:endParaRPr lang="en-ID" sz="8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Menunjukkan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bahwa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algoritma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tradisional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seperti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Random Forest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kesulitan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menangani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konteks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bidirectional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dibandingkan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model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berbasis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Transformer. </a:t>
                      </a:r>
                      <a:endParaRPr lang="en-ID" sz="8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extLst>
                  <a:ext uri="{0D108BD9-81ED-4DB2-BD59-A6C34878D82A}">
                    <a16:rowId xmlns:a16="http://schemas.microsoft.com/office/drawing/2014/main" val="2512692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9385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0F06F-E73A-5A55-CA39-3BE92AF3F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F41B049-51AA-EB05-81CC-F8151ADD3AB3}"/>
              </a:ext>
            </a:extLst>
          </p:cNvPr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E2A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Penelitian</a:t>
            </a:r>
            <a:r>
              <a:rPr lang="en-US" sz="2800" b="1" dirty="0">
                <a:solidFill>
                  <a:srgbClr val="1E2A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1E2A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Terkait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2C5D1DE-7CD1-E577-DD4A-90E883D18B80}"/>
              </a:ext>
            </a:extLst>
          </p:cNvPr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D1E3F5"/>
          </a:solidFill>
          <a:ln w="12700">
            <a:solidFill>
              <a:srgbClr val="D1E3F5"/>
            </a:solidFill>
            <a:prstDash val="solid"/>
          </a:ln>
        </p:spPr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B318B15-A528-2469-2500-314BA973C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170" y="237353"/>
            <a:ext cx="555674" cy="550481"/>
          </a:xfrm>
          <a:prstGeom prst="rect">
            <a:avLst/>
          </a:prstGeom>
        </p:spPr>
      </p:pic>
      <p:sp>
        <p:nvSpPr>
          <p:cNvPr id="25" name="Text 1">
            <a:extLst>
              <a:ext uri="{FF2B5EF4-FFF2-40B4-BE49-F238E27FC236}">
                <a16:creationId xmlns:a16="http://schemas.microsoft.com/office/drawing/2014/main" id="{7238F38B-BB0A-E83F-7C11-2118EB633B99}"/>
              </a:ext>
            </a:extLst>
          </p:cNvPr>
          <p:cNvSpPr/>
          <p:nvPr/>
        </p:nvSpPr>
        <p:spPr>
          <a:xfrm>
            <a:off x="3633788" y="4400973"/>
            <a:ext cx="18764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6"/>
              </a:lnSpc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F2435DA-FE1C-8371-492C-E6A7C8AB6A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2656807"/>
              </p:ext>
            </p:extLst>
          </p:nvPr>
        </p:nvGraphicFramePr>
        <p:xfrm>
          <a:off x="457200" y="1197906"/>
          <a:ext cx="8240861" cy="28966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8058">
                  <a:extLst>
                    <a:ext uri="{9D8B030D-6E8A-4147-A177-3AD203B41FA5}">
                      <a16:colId xmlns:a16="http://schemas.microsoft.com/office/drawing/2014/main" val="112005764"/>
                    </a:ext>
                  </a:extLst>
                </a:gridCol>
                <a:gridCol w="1117507">
                  <a:extLst>
                    <a:ext uri="{9D8B030D-6E8A-4147-A177-3AD203B41FA5}">
                      <a16:colId xmlns:a16="http://schemas.microsoft.com/office/drawing/2014/main" val="3352008517"/>
                    </a:ext>
                  </a:extLst>
                </a:gridCol>
                <a:gridCol w="1270250">
                  <a:extLst>
                    <a:ext uri="{9D8B030D-6E8A-4147-A177-3AD203B41FA5}">
                      <a16:colId xmlns:a16="http://schemas.microsoft.com/office/drawing/2014/main" val="1278913621"/>
                    </a:ext>
                  </a:extLst>
                </a:gridCol>
                <a:gridCol w="1355834">
                  <a:extLst>
                    <a:ext uri="{9D8B030D-6E8A-4147-A177-3AD203B41FA5}">
                      <a16:colId xmlns:a16="http://schemas.microsoft.com/office/drawing/2014/main" val="179141190"/>
                    </a:ext>
                  </a:extLst>
                </a:gridCol>
                <a:gridCol w="2351315">
                  <a:extLst>
                    <a:ext uri="{9D8B030D-6E8A-4147-A177-3AD203B41FA5}">
                      <a16:colId xmlns:a16="http://schemas.microsoft.com/office/drawing/2014/main" val="2115928289"/>
                    </a:ext>
                  </a:extLst>
                </a:gridCol>
                <a:gridCol w="1927897">
                  <a:extLst>
                    <a:ext uri="{9D8B030D-6E8A-4147-A177-3AD203B41FA5}">
                      <a16:colId xmlns:a16="http://schemas.microsoft.com/office/drawing/2014/main" val="1737039855"/>
                    </a:ext>
                  </a:extLst>
                </a:gridCol>
              </a:tblGrid>
              <a:tr h="680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en-ID" sz="8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(Peneliti, Tahun, Judul Penelitian)</a:t>
                      </a:r>
                      <a:endParaRPr lang="en-ID" sz="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Fokus Penelitian</a:t>
                      </a:r>
                      <a:endParaRPr lang="en-ID" sz="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Metode</a:t>
                      </a:r>
                      <a:endParaRPr lang="en-ID" sz="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Hasil Utama</a:t>
                      </a:r>
                      <a:endParaRPr lang="en-ID" sz="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Analisis Gap</a:t>
                      </a:r>
                      <a:endParaRPr lang="en-ID" sz="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extLst>
                  <a:ext uri="{0D108BD9-81ED-4DB2-BD59-A6C34878D82A}">
                    <a16:rowId xmlns:a16="http://schemas.microsoft.com/office/drawing/2014/main" val="143610940"/>
                  </a:ext>
                </a:extLst>
              </a:tr>
              <a:tr h="3471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ID" sz="8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(Dewi &amp; Hasugian, 2025) Penerapan Support Vector Machine Untuk Analisis Sentimen Pada Tanggapan Masyarakat Terhadap Program Makan Siang Gratis </a:t>
                      </a:r>
                      <a:endParaRPr lang="en-ID" sz="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Penggunaan SVM untuk menangani data berdimensi tinggi pada isu gizi buruk dan stunting. </a:t>
                      </a:r>
                      <a:endParaRPr lang="en-ID" sz="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Algoritma SVM dengan pendekatan TF-IDF menggunakan Google Colaboratory. </a:t>
                      </a:r>
                      <a:endParaRPr lang="en-ID" sz="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Akurasi 67% dengan precision 98% dan recall 99%. Mayoritas masyarakat memberikan respon positif. </a:t>
                      </a:r>
                      <a:endParaRPr lang="en-ID" sz="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Meskipun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precision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tinggi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akurasi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keseluruhan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(67%)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lebih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rendah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dibanding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penelitian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lain,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menunjukkan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perlunya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tuning hyperparameter. </a:t>
                      </a:r>
                      <a:endParaRPr lang="en-ID" sz="8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extLst>
                  <a:ext uri="{0D108BD9-81ED-4DB2-BD59-A6C34878D82A}">
                    <a16:rowId xmlns:a16="http://schemas.microsoft.com/office/drawing/2014/main" val="203269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ID" sz="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(Novfuja et al., 2025) Prediksi Dukungan Publik Menggunakan Analisis Sentimen Berbasis Long Short-Term Memory (LSTM) </a:t>
                      </a:r>
                      <a:endParaRPr lang="en-ID" sz="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Mengembangkan model deep learning untuk menangkap pola urutan kata dalam opini masyarakat. </a:t>
                      </a:r>
                      <a:endParaRPr lang="en-ID" sz="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Long Short-Term Memory (LSTM) dengan pembobotan Word2Vec. </a:t>
                      </a:r>
                      <a:endParaRPr lang="en-ID" sz="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Akurasi tertinggi 91,71% pada rasio 80:20. LSTM terbukti lebih unggul menangkap pola teks dibanding SVM dan BERT. </a:t>
                      </a:r>
                      <a:endParaRPr lang="en-ID" sz="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Lemahnya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performa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pada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kelas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negatif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akibat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ketidakseimbangan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data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meskipun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akurasi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keseluruhan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sangat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tinggi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</a:t>
                      </a:r>
                      <a:endParaRPr lang="en-ID" sz="8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extLst>
                  <a:ext uri="{0D108BD9-81ED-4DB2-BD59-A6C34878D82A}">
                    <a16:rowId xmlns:a16="http://schemas.microsoft.com/office/drawing/2014/main" val="2435043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ID" sz="8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(Rahmatullah et al., 2025)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Sentimen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Analisis Makan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Bergizi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Gratis Menggunakan Algoritma Naive Bayes </a:t>
                      </a:r>
                      <a:endParaRPr lang="en-ID" sz="8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Analisis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komentar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pada platform YouTube (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Sekretariat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Negara)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menggunakan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algoritma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probabilistik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</a:t>
                      </a:r>
                      <a:endParaRPr lang="en-ID" sz="8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Algoritma Naive Bayes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dengan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pelabelan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otomatis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berbasis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polarity. </a:t>
                      </a:r>
                      <a:endParaRPr lang="en-ID" sz="8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Akurasi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87,35%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untuk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komentar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negatif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Hasil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menunjukkan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sentimen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negatif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lebih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dominan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di YouTube. </a:t>
                      </a:r>
                      <a:endParaRPr lang="en-ID" sz="8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Berbeda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dengan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platform X,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audiens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YouTube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dalam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studi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ini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menunjukkan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kecenderungan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sentimen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negatif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yang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lebih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800" kern="1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tinggi</a:t>
                      </a:r>
                      <a:r>
                        <a:rPr lang="en-ID" sz="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</a:t>
                      </a:r>
                      <a:endParaRPr lang="en-ID" sz="8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1377" marR="11377" marT="0" marB="0"/>
                </a:tc>
                <a:extLst>
                  <a:ext uri="{0D108BD9-81ED-4DB2-BD59-A6C34878D82A}">
                    <a16:rowId xmlns:a16="http://schemas.microsoft.com/office/drawing/2014/main" val="9056194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2562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Alur Penelitian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D1E3F5"/>
          </a:solidFill>
          <a:ln w="12700">
            <a:solidFill>
              <a:srgbClr val="D1E3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4023360" cy="141732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502920" cy="141732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459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51560" y="1307592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Source Data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51560" y="173736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Crawling tweet dari Platform X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023360" cy="141732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43000"/>
            <a:ext cx="502920" cy="141732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6459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349240" y="1307592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Preprocessing Data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349240" y="173736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Pembersihan &amp; normalisasi teks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4023360" cy="141732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834640"/>
            <a:ext cx="502920" cy="141732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375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51560" y="2999232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Preliminary Data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51560" y="342900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Relevansi, Kategorisasi Akun, Entropy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754880" y="2834640"/>
            <a:ext cx="4023360" cy="141732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5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834640"/>
            <a:ext cx="502920" cy="141732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3375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349240" y="2999232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Labeling Data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349240" y="342900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Pelabelan sentimen otomatis (InSet Lexicon)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35596AC-C964-E911-DF95-AF269A9F2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170" y="237353"/>
            <a:ext cx="555674" cy="5504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56A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01  Source Data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Crawling tweet dari Platform X dengan keyword program makan bergizi gratis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4114800" cy="438912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3502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Keyword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920240" y="133502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 makan bergizi gratis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" y="1792224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6537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Bahasa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920240" y="186537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 (Indonesia)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0040" y="2322576"/>
            <a:ext cx="4114800" cy="438912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957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Rentang Waktu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920240" y="23957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2023 – 2026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0040" y="2852928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3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26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Platform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920240" y="2926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 (Twitter)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4632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Jumlah Tweet per Tahun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46320" y="168249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6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577840" y="1664208"/>
            <a:ext cx="548640" cy="32004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168249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6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46320" y="236829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6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2024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577840" y="2350008"/>
            <a:ext cx="1188720" cy="32004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36829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6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84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46320" y="305409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6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577840" y="3035808"/>
            <a:ext cx="2011680" cy="32004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35240" y="305409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6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140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846320" y="373989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6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577840" y="3721608"/>
            <a:ext cx="2926080" cy="32004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49640" y="373989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6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217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20040" y="4480560"/>
            <a:ext cx="8503920" cy="384048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50799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Total: 477 tweet  |  Kolom penting: full_text, username, created_at, retweet_count, favorite_count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CB89CCE-FD5F-10FC-7F22-E8DF58277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170" y="237353"/>
            <a:ext cx="555674" cy="5504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86D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02  Preprocessing Data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Pipeline pembersihan &amp; normalisasi teks sebelum analisis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023360" cy="91440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84632" y="1389888"/>
            <a:ext cx="594360" cy="594360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3898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16152" y="1325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 Folding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16152" y="167335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Normalisasi huruf besar/kecil  |  Tool: regex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00600" y="1234440"/>
            <a:ext cx="4023360" cy="91440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65192" y="1389888"/>
            <a:ext cx="594360" cy="594360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65192" y="13898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696712" y="1325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Tokenizing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696712" y="167335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Hapus angka, tanda baca &amp; pecah string  |  Tool: NLTK + regex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0040" y="2350008"/>
            <a:ext cx="4023360" cy="91440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" y="2505456"/>
            <a:ext cx="594360" cy="594360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250545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16152" y="244144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Stopword Removal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216152" y="2788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Menghapus kata sandang tidak bermakna  |  Tool: NLTK + stopwords-id.txt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800600" y="2350008"/>
            <a:ext cx="4023360" cy="91440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65192" y="2505456"/>
            <a:ext cx="594360" cy="594360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250545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696712" y="244144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Normalisasi Slang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696712" y="2788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Konversi bahasa gaul ke formal  |  Tool: slang.csv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240280" y="3465576"/>
            <a:ext cx="4663440" cy="91440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404872" y="3621024"/>
            <a:ext cx="594360" cy="594360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04872" y="362102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136392" y="355701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Stemming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136392" y="392277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Mengembalikan kata ke bentuk dasar  |  Tool: Sastrawi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20040" y="4480560"/>
            <a:ext cx="8503920" cy="384048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50799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Output: Text_Preprocessing.csv  |  477 → setelah hapus duplikat → 454 tweet bersih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C049995-CB33-643F-7F38-C6F33641C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170" y="237353"/>
            <a:ext cx="555674" cy="55048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C348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03  Preliminary Data — Cek Relevansi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621792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awal  →  477 tweet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810512"/>
            <a:ext cx="8229600" cy="621792"/>
          </a:xfrm>
          <a:prstGeom prst="rect">
            <a:avLst/>
          </a:prstGeom>
          <a:solidFill>
            <a:srgbClr val="2E86DE">
              <a:alpha val="88000"/>
            </a:srgbClr>
          </a:solidFill>
          <a:ln w="12700">
            <a:solidFill>
              <a:srgbClr val="2E86DE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4767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Setelah hapus duplikat  →  462 tweet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94360" y="2660904"/>
            <a:ext cx="7955280" cy="621792"/>
          </a:xfrm>
          <a:prstGeom prst="rect">
            <a:avLst/>
          </a:prstGeom>
          <a:solidFill>
            <a:srgbClr val="5B9BD5">
              <a:alpha val="76000"/>
            </a:srgbClr>
          </a:solidFill>
          <a:ln w="12700">
            <a:solidFill>
              <a:srgbClr val="5B9BD5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798064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Setelah preprocessing duplikat  →  454 tweet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31520" y="3511296"/>
            <a:ext cx="7680960" cy="621792"/>
          </a:xfrm>
          <a:prstGeom prst="rect">
            <a:avLst/>
          </a:prstGeom>
          <a:solidFill>
            <a:srgbClr val="22A75A">
              <a:alpha val="64000"/>
            </a:srgbClr>
          </a:solidFill>
          <a:ln w="12700">
            <a:solidFill>
              <a:srgbClr val="22A75A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64845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Filter relevan (Excel formula)  →  451 relevan  +  3 tidak relevan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0040" y="4370832"/>
            <a:ext cx="850392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D1E3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39826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Formula Excel: =IF(SUM(COUNTIF(full_text;{"*makan siang gratis*";"*MBG*";"*makan bergizi gratis*"...}));"Relevan";"Tidak Relevan")</a:t>
            </a:r>
            <a:endParaRPr lang="en-US" sz="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05C432E-ADFA-43EE-79D7-2C654BE83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170" y="237353"/>
            <a:ext cx="555674" cy="55048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C348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03  Preliminary Data — Kategorisasi Akun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Dari 451 tweet relevan → 316 akun unik dikategorikan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0040" y="1280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Individu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834640" y="1325880"/>
            <a:ext cx="4160520" cy="347472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0" y="13258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6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221 akun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0040" y="19385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Media Resmi Dewanpers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834640" y="1984248"/>
            <a:ext cx="772668" cy="347472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3028" y="198424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D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42 akun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0040" y="259689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Official (Centang Biru)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834640" y="2642616"/>
            <a:ext cx="534924" cy="347472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5284" y="264261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9B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27 akun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20040" y="325526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Media Tidak Resmi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834640" y="3300984"/>
            <a:ext cx="451714" cy="347472"/>
          </a:xfrm>
          <a:prstGeom prst="rect">
            <a:avLst/>
          </a:prstGeom>
          <a:solidFill>
            <a:srgbClr val="90C4F5"/>
          </a:solidFill>
          <a:ln w="12700">
            <a:solidFill>
              <a:srgbClr val="90C4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2074" y="330098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C4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 akun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0040" y="391363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Komunitas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834640" y="3959352"/>
            <a:ext cx="35662" cy="347472"/>
          </a:xfrm>
          <a:prstGeom prst="rect">
            <a:avLst/>
          </a:prstGeom>
          <a:solidFill>
            <a:srgbClr val="C9DFF5"/>
          </a:solidFill>
          <a:ln w="12700">
            <a:solidFill>
              <a:srgbClr val="C9DF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16022" y="395935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DFF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akun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20040" y="4462272"/>
            <a:ext cx="8503920" cy="38404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48970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Proses: Matching username vs Dewan Pers data (1.261 media) + verifikasi manual di website X &amp; dewanpers.or.id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9DC5B5A-2FDB-5B74-5F5F-4C6B4929A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170" y="237353"/>
            <a:ext cx="555674" cy="55048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C348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  Preliminary Data — Entropy Analysis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Mengukur tingkat keragaman informasi dalam 451 tweet (berbasis kolom tweet_tokens_stemmed)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023360" cy="128016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344168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56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3.96 bit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0040" y="19019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 Entropy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0040" y="217627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Distribusi normal / simetris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617720" y="1234440"/>
            <a:ext cx="4023360" cy="128016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1344168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56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4.05 bit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17720" y="19019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Median Entropy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17720" y="217627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 ≈ Median → distribusi stabil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0040" y="2743200"/>
            <a:ext cx="4023360" cy="128016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" y="2852928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56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0.55 bit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0040" y="341071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 Deviasi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0040" y="368503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Tweet relatif seragam dalam kompleksitas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617720" y="2743200"/>
            <a:ext cx="4023360" cy="128016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17720" y="2852928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56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0.99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617720" y="341071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Entropy Ternormalisasi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617720" y="368503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Variasi kata sangat kaya (skala 0–1)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20040" y="4480560"/>
            <a:ext cx="8503920" cy="384048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50799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Rata-rata token/tweet: 18.76  |  Rata-rata token unik/tweet: 17.10  →  Hampir setiap kata dalam tweet adalah unik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4C34A98-A866-6BF7-076A-353A80328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170" y="237353"/>
            <a:ext cx="555674" cy="55048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2A75A"/>
          </a:solidFill>
          <a:ln w="12700">
            <a:solidFill>
              <a:srgbClr val="22A7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A7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  Labeling Data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Pelabelan sentimen otomatis menggunakan InSet Lexicon pada 451 tweet relevan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023360" cy="777240"/>
          </a:xfrm>
          <a:prstGeom prst="rect">
            <a:avLst/>
          </a:prstGeom>
          <a:solidFill>
            <a:srgbClr val="22A75A">
              <a:alpha val="12000"/>
            </a:srgbClr>
          </a:solidFill>
          <a:ln w="12700">
            <a:solidFill>
              <a:srgbClr val="22A75A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618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A7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Positive Dictionary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5819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3.609 kata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617720" y="1188720"/>
            <a:ext cx="4023360" cy="777240"/>
          </a:xfrm>
          <a:prstGeom prst="rect">
            <a:avLst/>
          </a:prstGeom>
          <a:solidFill>
            <a:srgbClr val="E03A3A">
              <a:alpha val="12000"/>
            </a:srgbClr>
          </a:solidFill>
          <a:ln w="12700">
            <a:solidFill>
              <a:srgbClr val="E03A3A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2618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3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Negative Dictionary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754880" y="15819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6.609 kata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0040" y="21488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Proses Labeling: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0040" y="2514600"/>
            <a:ext cx="2606040" cy="68580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7860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Input: tweet_normalized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926080" y="26517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00400" y="2514600"/>
            <a:ext cx="2606040" cy="68580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257860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Hitung skor positif &amp; negatif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806440" y="26517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080760" y="2514600"/>
            <a:ext cx="2606040" cy="68580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257860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Label: Positif / Negatif / Netral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20040" y="342900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 Label: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20040" y="3794760"/>
            <a:ext cx="2606040" cy="594360"/>
          </a:xfrm>
          <a:prstGeom prst="rect">
            <a:avLst/>
          </a:prstGeom>
          <a:solidFill>
            <a:srgbClr val="22A75A">
              <a:alpha val="15000"/>
            </a:srgbClr>
          </a:solidFill>
          <a:ln w="12700">
            <a:solidFill>
              <a:srgbClr val="22A75A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82219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A7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Positif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200400" y="3794760"/>
            <a:ext cx="2606040" cy="594360"/>
          </a:xfrm>
          <a:prstGeom prst="rect">
            <a:avLst/>
          </a:prstGeom>
          <a:solidFill>
            <a:srgbClr val="E03A3A">
              <a:alpha val="15000"/>
            </a:srgbClr>
          </a:solidFill>
          <a:ln w="12700">
            <a:solidFill>
              <a:srgbClr val="E03A3A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382219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3A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Negatif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080760" y="3794760"/>
            <a:ext cx="2606040" cy="594360"/>
          </a:xfrm>
          <a:prstGeom prst="rect">
            <a:avLst/>
          </a:prstGeom>
          <a:solidFill>
            <a:srgbClr val="F0A500">
              <a:alpha val="15000"/>
            </a:srgbClr>
          </a:solidFill>
          <a:ln w="12700">
            <a:solidFill>
              <a:srgbClr val="F0A500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382219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A5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Netral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20040" y="4553712"/>
            <a:ext cx="8503920" cy="320040"/>
          </a:xfrm>
          <a:prstGeom prst="rect">
            <a:avLst/>
          </a:prstGeom>
          <a:solidFill>
            <a:srgbClr val="EEF4FB"/>
          </a:solidFill>
          <a:ln w="12700">
            <a:solidFill>
              <a:srgbClr val="D1E3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58114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Kamus: InSet Lexicon  |  Input: Step_8-Clean_Relevansi_Data.csv → kolom tweet_normalized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CDD1DB5-1F05-E876-000E-26585C8EF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170" y="237353"/>
            <a:ext cx="555674" cy="55048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9D4CB-226C-9D0D-717F-BC8B680D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E29F37F-B95E-1786-5A10-E1262DB1E5B3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2A75A"/>
          </a:solidFill>
          <a:ln w="12700">
            <a:solidFill>
              <a:srgbClr val="22A75A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55EE29A-2BD2-48B7-CE53-F8D36E3DAFF0}"/>
              </a:ext>
            </a:extLst>
          </p:cNvPr>
          <p:cNvSpPr/>
          <p:nvPr/>
        </p:nvSpPr>
        <p:spPr>
          <a:xfrm>
            <a:off x="320040" y="25603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A7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  Hasil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FC9FF68-9C2D-7594-C8D4-DF8CD158D8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000" y="1012947"/>
            <a:ext cx="7200000" cy="338621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704EBFC-379C-3E65-B895-EAD5979EC1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8170" y="237353"/>
            <a:ext cx="555674" cy="55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202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B62DA-08B3-2F23-2107-AA5DA6659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94C4C87-0A6B-232E-BE9C-09EBC73BF2B7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2A75A"/>
          </a:solidFill>
          <a:ln w="12700">
            <a:solidFill>
              <a:srgbClr val="22A75A"/>
            </a:solidFill>
            <a:prstDash val="solid"/>
          </a:ln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1ADDA7-9FFE-891F-3DE4-AD478E1418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000" y="1108538"/>
            <a:ext cx="7200000" cy="306873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E6E7320D-2B49-1342-2172-A46266C9D206}"/>
              </a:ext>
            </a:extLst>
          </p:cNvPr>
          <p:cNvSpPr/>
          <p:nvPr/>
        </p:nvSpPr>
        <p:spPr>
          <a:xfrm>
            <a:off x="320040" y="25603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A7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  Hasil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183263-65D9-9D85-18D9-43D585ADE3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8170" y="237353"/>
            <a:ext cx="555674" cy="55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562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r="1088" b="13120"/>
          <a:stretch/>
        </p:blipFill>
        <p:spPr>
          <a:xfrm>
            <a:off x="-100608" y="-746392"/>
            <a:ext cx="9144000" cy="4942597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-306883"/>
            <a:ext cx="9144000" cy="417879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0" y="4085555"/>
            <a:ext cx="9144000" cy="1057945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714375" y="4495465"/>
            <a:ext cx="1123950" cy="238125"/>
          </a:xfrm>
          <a:prstGeom prst="rect">
            <a:avLst/>
          </a:prstGeom>
          <a:noFill/>
          <a:ln/>
        </p:spPr>
      </p:sp>
      <p:sp>
        <p:nvSpPr>
          <p:cNvPr id="6" name="Text 1"/>
          <p:cNvSpPr/>
          <p:nvPr/>
        </p:nvSpPr>
        <p:spPr>
          <a:xfrm>
            <a:off x="714375" y="4495465"/>
            <a:ext cx="747713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en-US" sz="855" dirty="0">
                <a:solidFill>
                  <a:srgbClr val="E3E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 email </a:t>
            </a:r>
            <a:endParaRPr lang="en-US" sz="855" dirty="0"/>
          </a:p>
        </p:txBody>
      </p:sp>
      <p:sp>
        <p:nvSpPr>
          <p:cNvPr id="7" name="Text 2"/>
          <p:cNvSpPr/>
          <p:nvPr/>
        </p:nvSpPr>
        <p:spPr>
          <a:xfrm>
            <a:off x="714375" y="4652628"/>
            <a:ext cx="1123950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855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hi@mahasigma.com</a:t>
            </a:r>
            <a:endParaRPr lang="en-US" sz="855" dirty="0"/>
          </a:p>
        </p:txBody>
      </p:sp>
      <p:sp>
        <p:nvSpPr>
          <p:cNvPr id="8" name="Shape 3"/>
          <p:cNvSpPr/>
          <p:nvPr/>
        </p:nvSpPr>
        <p:spPr>
          <a:xfrm>
            <a:off x="7519988" y="4495465"/>
            <a:ext cx="909638" cy="238125"/>
          </a:xfrm>
          <a:prstGeom prst="rect">
            <a:avLst/>
          </a:prstGeom>
          <a:noFill/>
          <a:ln/>
        </p:spPr>
      </p:sp>
      <p:sp>
        <p:nvSpPr>
          <p:cNvPr id="9" name="Text 4"/>
          <p:cNvSpPr/>
          <p:nvPr/>
        </p:nvSpPr>
        <p:spPr>
          <a:xfrm>
            <a:off x="7991475" y="4495465"/>
            <a:ext cx="438150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283"/>
              </a:lnSpc>
              <a:buNone/>
            </a:pPr>
            <a:r>
              <a:rPr lang="en-US" sz="855" dirty="0">
                <a:solidFill>
                  <a:srgbClr val="E3E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Website</a:t>
            </a:r>
            <a:endParaRPr lang="en-US" sz="855" dirty="0"/>
          </a:p>
        </p:txBody>
      </p:sp>
      <p:sp>
        <p:nvSpPr>
          <p:cNvPr id="10" name="Text 5"/>
          <p:cNvSpPr/>
          <p:nvPr/>
        </p:nvSpPr>
        <p:spPr>
          <a:xfrm>
            <a:off x="7519988" y="4652628"/>
            <a:ext cx="909638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40"/>
              </a:lnSpc>
              <a:buNone/>
            </a:pPr>
            <a:r>
              <a:rPr lang="en-US" sz="855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mahasigma.com</a:t>
            </a:r>
            <a:endParaRPr lang="en-US" sz="855" dirty="0"/>
          </a:p>
        </p:txBody>
      </p:sp>
      <p:sp>
        <p:nvSpPr>
          <p:cNvPr id="11" name="Text 6"/>
          <p:cNvSpPr/>
          <p:nvPr/>
        </p:nvSpPr>
        <p:spPr>
          <a:xfrm>
            <a:off x="873919" y="2090738"/>
            <a:ext cx="7391400" cy="623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413"/>
              </a:lnSpc>
              <a:buNone/>
            </a:pPr>
            <a:r>
              <a:rPr lang="en-US" sz="6413" b="1" dirty="0">
                <a:solidFill>
                  <a:srgbClr val="FF66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Terima</a:t>
            </a:r>
            <a:r>
              <a:rPr lang="en-US" sz="6413" b="1" dirty="0">
                <a:solidFill>
                  <a:srgbClr val="19213D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6413" b="1" dirty="0">
                <a:solidFill>
                  <a:srgbClr val="B4B9C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kasih</a:t>
            </a:r>
            <a:r>
              <a:rPr lang="en-US" sz="6413" b="1" dirty="0">
                <a:solidFill>
                  <a:srgbClr val="19213D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gaji.</a:t>
            </a:r>
            <a:endParaRPr lang="en-US" sz="6413" dirty="0"/>
          </a:p>
        </p:txBody>
      </p:sp>
      <p:sp>
        <p:nvSpPr>
          <p:cNvPr id="12" name="Text 7"/>
          <p:cNvSpPr/>
          <p:nvPr/>
        </p:nvSpPr>
        <p:spPr>
          <a:xfrm>
            <a:off x="3929063" y="2419350"/>
            <a:ext cx="2390775" cy="104775"/>
          </a:xfrm>
          <a:prstGeom prst="rect">
            <a:avLst/>
          </a:prstGeom>
          <a:solidFill>
            <a:srgbClr val="2388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6286500" y="590550"/>
            <a:ext cx="21050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247"/>
              </a:lnSpc>
              <a:buNone/>
            </a:pPr>
            <a:r>
              <a:rPr lang="en-US" sz="1140" b="1" dirty="0">
                <a:solidFill>
                  <a:srgbClr val="19213D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MAGISTER ILMU KOMPUTER</a:t>
            </a:r>
            <a:endParaRPr lang="en-US" sz="1140" dirty="0"/>
          </a:p>
          <a:p>
            <a:pPr marL="0" indent="0" algn="r">
              <a:lnSpc>
                <a:spcPts val="1247"/>
              </a:lnSpc>
              <a:buNone/>
            </a:pPr>
            <a:r>
              <a:rPr lang="en-US" sz="1140" b="1" dirty="0">
                <a:solidFill>
                  <a:srgbClr val="19213D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UNIVERSITAS BUDI LUHUR</a:t>
            </a:r>
            <a:endParaRPr lang="en-US" sz="114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52475" y="457200"/>
            <a:ext cx="525931" cy="53816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447925" y="3088780"/>
            <a:ext cx="382905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44"/>
              </a:lnSpc>
              <a:buNone/>
            </a:pPr>
            <a:r>
              <a:rPr lang="en-US" sz="1710" b="1" dirty="0">
                <a:solidFill>
                  <a:srgbClr val="6D758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Traktir SIOMAY BL kelompok ini</a:t>
            </a:r>
            <a:endParaRPr lang="en-US" sz="171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962650" y="3124200"/>
            <a:ext cx="709613" cy="7096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1350</Words>
  <Application>Microsoft Office PowerPoint</Application>
  <PresentationFormat>On-screen Show (16:9)</PresentationFormat>
  <Paragraphs>210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Analisis Sentimen - Program Makan Bergizi Gratis</dc:title>
  <dc:subject>PptxGenJS Presentation</dc:subject>
  <dc:creator>PptxGenJS</dc:creator>
  <cp:lastModifiedBy>Mitra Netra</cp:lastModifiedBy>
  <cp:revision>10</cp:revision>
  <dcterms:created xsi:type="dcterms:W3CDTF">2026-05-01T11:23:48Z</dcterms:created>
  <dcterms:modified xsi:type="dcterms:W3CDTF">2026-05-02T04:32:56Z</dcterms:modified>
</cp:coreProperties>
</file>